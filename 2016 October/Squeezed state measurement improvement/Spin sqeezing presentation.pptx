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6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83"/>
    <p:restoredTop sz="77352"/>
  </p:normalViewPr>
  <p:slideViewPr>
    <p:cSldViewPr snapToGrid="0" snapToObjects="1">
      <p:cViewPr>
        <p:scale>
          <a:sx n="91" d="100"/>
          <a:sy n="91" d="100"/>
        </p:scale>
        <p:origin x="1224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58DF3-FB1D-2040-A8FB-ACCB5D86A683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92366-1CF9-664B-85B4-0F949CCDD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First factor in chi-squared is noise reduction, second is coherence loss [reduction</a:t>
            </a:r>
            <a:r>
              <a:rPr lang="en-US" baseline="0" dirty="0" smtClean="0"/>
              <a:t> in Ramsey fringe</a:t>
            </a:r>
            <a:r>
              <a:rPr lang="en-US" dirty="0" smtClean="0"/>
              <a:t>] (average</a:t>
            </a:r>
            <a:r>
              <a:rPr lang="en-US" baseline="0" dirty="0" smtClean="0"/>
              <a:t> </a:t>
            </a:r>
            <a:r>
              <a:rPr lang="en-US" dirty="0" smtClean="0"/>
              <a:t>length</a:t>
            </a:r>
            <a:r>
              <a:rPr lang="en-US" baseline="0" dirty="0" smtClean="0"/>
              <a:t> of J vector shorter with larger spread)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chi-squared=100</a:t>
            </a:r>
            <a:r>
              <a:rPr lang="en-US" baseline="0" dirty="0" smtClean="0"/>
              <a:t> (20 dB) equivalent to 100 times increase in atom number or averaging time</a:t>
            </a:r>
          </a:p>
          <a:p>
            <a:endParaRPr lang="en-US" baseline="0" dirty="0" smtClean="0"/>
          </a:p>
          <a:p>
            <a:r>
              <a:rPr lang="en-US" baseline="0" dirty="0" smtClean="0"/>
              <a:t>Upper bound in squeezing in this experiment 24 dB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5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Optical interferometers and </a:t>
            </a:r>
            <a:r>
              <a:rPr lang="en-US" dirty="0" err="1" smtClean="0"/>
              <a:t>sc</a:t>
            </a:r>
            <a:r>
              <a:rPr lang="en-US" baseline="0" dirty="0" smtClean="0"/>
              <a:t> microwave circuits reached 12 dB squeezing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Cold atom experiments reach</a:t>
            </a:r>
            <a:r>
              <a:rPr lang="en-US" baseline="0" dirty="0" smtClean="0"/>
              <a:t> sensitivity limit at high atom numbers (interaction shifts)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“Squeezing offers a universal path to surpassing this limitation to sensitivity”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70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455 Hz </a:t>
                </a:r>
                <a:r>
                  <a:rPr lang="en-US" dirty="0" err="1" smtClean="0"/>
                  <a:t>osc</a:t>
                </a:r>
                <a:r>
                  <a:rPr lang="en-US" dirty="0" smtClean="0"/>
                  <a:t> frequency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Quantum</a:t>
                </a:r>
                <a:r>
                  <a:rPr lang="en-US" baseline="0" dirty="0" smtClean="0"/>
                  <a:t> </a:t>
                </a:r>
                <a:r>
                  <a:rPr lang="en-US" baseline="0" dirty="0" smtClean="0"/>
                  <a:t>non-demolition measurement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Uniform coupling: claims squeezing info still obtainable if released from lattice (needed for cold atom sensors)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Cavity parameters: load 25 µK atoms</a:t>
                </a:r>
                <a:r>
                  <a:rPr lang="en-US" baseline="0" dirty="0" smtClean="0"/>
                  <a:t> (up to 7*10^5) in lower clock state, 10.7 cm near confocal cavity, finesse = 1.75*10^5 (linewidth 8 kHz)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Scrubbing cavity narrows linewidth of</a:t>
                </a:r>
                <a:r>
                  <a:rPr lang="en-US" baseline="0" dirty="0" smtClean="0"/>
                  <a:t> master laser (ECDL according to website)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1560 nm locked to main cavity resonance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780 has ~8Hz </a:t>
                </a:r>
                <a:r>
                  <a:rPr lang="en-US" baseline="0" dirty="0" err="1" smtClean="0"/>
                  <a:t>rms</a:t>
                </a:r>
                <a:r>
                  <a:rPr lang="en-US" baseline="0" dirty="0" smtClean="0"/>
                  <a:t> stability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Stable to cavity shift from 3 spin flips (1 is 5.5 Hz)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(Path B) LO for homodyne 80MHz shifted from input, kill 1/f noise for photon shot noise limited detection (10Hz-5MHz)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(Path A) </a:t>
                </a:r>
              </a:p>
              <a:p>
                <a:r>
                  <a:rPr lang="en-US" baseline="0" dirty="0" smtClean="0"/>
                  <a:t>10 </a:t>
                </a:r>
                <a:r>
                  <a:rPr lang="en-US" baseline="0" dirty="0" err="1" smtClean="0"/>
                  <a:t>nW</a:t>
                </a:r>
                <a:r>
                  <a:rPr lang="en-US" baseline="0" dirty="0" smtClean="0"/>
                  <a:t> each in 78, 82MHz sidebands. 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travel to the cavity and promptly reflect back from the first mirror to give a heterodyne beat-note signal (2 MHz) at the detectors </a:t>
                </a:r>
                <a:endParaRPr lang="en-US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signal is used to stabilize the interferometer path lengths via feedback onto the AOM on path A </a:t>
                </a:r>
                <a:endParaRPr lang="en-US" baseline="0" dirty="0" smtClean="0"/>
              </a:p>
              <a:p>
                <a:r>
                  <a:rPr lang="en-US" baseline="0" dirty="0" smtClean="0"/>
                  <a:t>Stabilization covers DC-15kHz “removing the influence of optical phase noise for the squeezing measurements”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Population difference changes index of refraction </a:t>
                </a:r>
                <a:r>
                  <a:rPr lang="en-US" baseline="0" dirty="0" smtClean="0">
                    <a:sym typeface="Wingdings"/>
                  </a:rPr>
                  <a:t> shifts cavity frequency (down shifts up, etc.)</a:t>
                </a:r>
              </a:p>
              <a:p>
                <a:endParaRPr lang="en-US" baseline="0" dirty="0" smtClean="0">
                  <a:sym typeface="Wingdings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𝜈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𝜌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/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𝑑𝑡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 smtClean="0"/>
                  <a:t>   [D] = Hz/V, rho</a:t>
                </a:r>
                <a:r>
                  <a:rPr lang="en-US" baseline="0" dirty="0" smtClean="0"/>
                  <a:t> temporal signal shape (measure homodyne signal, no atoms, slightly off resonance)</a:t>
                </a:r>
              </a:p>
              <a:p>
                <a:endParaRPr lang="en-US" baseline="0" dirty="0" smtClean="0"/>
              </a:p>
              <a:p>
                <a:r>
                  <a:rPr lang="en-US" dirty="0" err="1" smtClean="0"/>
                  <a:t>Jz</a:t>
                </a:r>
                <a:r>
                  <a:rPr lang="en-US" dirty="0" smtClean="0"/>
                  <a:t> resolution determined by competition between photon shot noise and probe-induced Raman scattering (spin flips) (former limits precision of cavity f measurements, latter leads to random</a:t>
                </a:r>
                <a:r>
                  <a:rPr lang="en-US" baseline="0" dirty="0" smtClean="0"/>
                  <a:t> walk in measured observable)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Quantum</a:t>
                </a:r>
                <a:r>
                  <a:rPr lang="en-US" baseline="0" dirty="0" smtClean="0"/>
                  <a:t> non-demolition measurement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Uniform coupling: claims squeezing info still obtainable if released from lattice (needed for cold atom sensors)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Cavity parameters: load 25 µK atoms</a:t>
                </a:r>
                <a:r>
                  <a:rPr lang="en-US" baseline="0" dirty="0" smtClean="0"/>
                  <a:t> (up to 7*10^5</a:t>
                </a:r>
                <a:r>
                  <a:rPr lang="en-US" baseline="0" dirty="0" smtClean="0"/>
                  <a:t>) in lower clock state, </a:t>
                </a:r>
                <a:r>
                  <a:rPr lang="en-US" baseline="0" dirty="0" smtClean="0"/>
                  <a:t>10.7 cm near confocal cavity, finesse = 1.75*10^5 (linewidth 8 kHz)</a:t>
                </a: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Scrubbing cavity narrows linewidth of</a:t>
                </a:r>
                <a:r>
                  <a:rPr lang="en-US" baseline="0" dirty="0" smtClean="0"/>
                  <a:t> master laser (ECDL according to website)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1560 nm locked to main cavity resonance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780 has ~8Hz </a:t>
                </a:r>
                <a:r>
                  <a:rPr lang="en-US" baseline="0" dirty="0" err="1" smtClean="0"/>
                  <a:t>rms</a:t>
                </a:r>
                <a:r>
                  <a:rPr lang="en-US" baseline="0" dirty="0" smtClean="0"/>
                  <a:t> stability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Stable to cavity shift from 3 spin flips (1 is 5.5 Hz)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(Path B) LO </a:t>
                </a:r>
                <a:r>
                  <a:rPr lang="en-US" baseline="0" dirty="0" smtClean="0"/>
                  <a:t>for homodyne 80MHz shifted from input, kill 1/f noise for </a:t>
                </a:r>
                <a:r>
                  <a:rPr lang="en-US" baseline="0" dirty="0" smtClean="0"/>
                  <a:t>photon shot noise limited detection (10Hz-5MHz)</a:t>
                </a:r>
                <a:endParaRPr lang="en-US" baseline="0" dirty="0" smtClean="0"/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(Path A) </a:t>
                </a:r>
              </a:p>
              <a:p>
                <a:r>
                  <a:rPr lang="en-US" baseline="0" dirty="0" smtClean="0"/>
                  <a:t>10 </a:t>
                </a:r>
                <a:r>
                  <a:rPr lang="en-US" baseline="0" dirty="0" err="1" smtClean="0"/>
                  <a:t>nW</a:t>
                </a:r>
                <a:r>
                  <a:rPr lang="en-US" baseline="0" dirty="0" smtClean="0"/>
                  <a:t> each in 78, 82MHz sidebands. 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travel to the cavity and promptly reflect back from the first mirror to give a heterodyne beat-note signal (2 MHz) at the detectors </a:t>
                </a:r>
                <a:endParaRPr lang="en-US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smtClean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signal is used to stabilize the interferometer path lengths via feedback onto the AOM on path A </a:t>
                </a:r>
                <a:endParaRPr lang="en-US" baseline="0" dirty="0" smtClean="0"/>
              </a:p>
              <a:p>
                <a:r>
                  <a:rPr lang="en-US" baseline="0" dirty="0" smtClean="0"/>
                  <a:t>Stabilization </a:t>
                </a:r>
                <a:r>
                  <a:rPr lang="en-US" baseline="0" dirty="0" smtClean="0"/>
                  <a:t>covers DC-15kHz “removing the influence of optical phase noise for the squeezing measurements</a:t>
                </a:r>
                <a:r>
                  <a:rPr lang="en-US" baseline="0" dirty="0" smtClean="0"/>
                  <a:t>”</a:t>
                </a:r>
              </a:p>
              <a:p>
                <a:endParaRPr lang="en-US" baseline="0" dirty="0" smtClean="0"/>
              </a:p>
              <a:p>
                <a:r>
                  <a:rPr lang="en-US" baseline="0" dirty="0" smtClean="0"/>
                  <a:t>Population difference changes index of refraction </a:t>
                </a:r>
                <a:r>
                  <a:rPr lang="en-US" baseline="0" dirty="0" smtClean="0">
                    <a:sym typeface="Wingdings"/>
                  </a:rPr>
                  <a:t> shifts cavity frequency (down shifts up, etc.)</a:t>
                </a:r>
              </a:p>
              <a:p>
                <a:endParaRPr lang="en-US" baseline="0" dirty="0" smtClean="0">
                  <a:sym typeface="Wingdings"/>
                </a:endParaRPr>
              </a:p>
              <a:p>
                <a:pPr/>
                <a:r>
                  <a:rPr lang="en-US" i="0" smtClean="0">
                    <a:latin typeface="Cambria Math" charset="0"/>
                    <a:ea typeface="Cambria Math" charset="0"/>
                    <a:cs typeface="Cambria Math" charset="0"/>
                  </a:rPr>
                  <a:t>∆𝜈</a:t>
                </a:r>
                <a:r>
                  <a:rPr lang="en-US" b="0" i="0" smtClean="0">
                    <a:latin typeface="Cambria Math" charset="0"/>
                    <a:ea typeface="Cambria Math" charset="0"/>
                    <a:cs typeface="Cambria Math" charset="0"/>
                  </a:rPr>
                  <a:t>=𝐷∫1▒〖𝑠(𝑡)𝜌(𝑡)𝑑𝑡/∫1▒〖𝜌^2 (𝑡)𝑑𝑡〗〗</a:t>
                </a:r>
                <a:r>
                  <a:rPr lang="en-US" dirty="0" smtClean="0"/>
                  <a:t>   [D] = Hz/V, rho</a:t>
                </a:r>
                <a:r>
                  <a:rPr lang="en-US" baseline="0" dirty="0" smtClean="0"/>
                  <a:t> temporal signal shape (measure homodyne signal, no atoms, slightly off resonance)</a:t>
                </a:r>
              </a:p>
              <a:p>
                <a:pPr/>
                <a:endParaRPr lang="en-US" baseline="0" dirty="0" smtClean="0"/>
              </a:p>
              <a:p>
                <a:pPr/>
                <a:r>
                  <a:rPr lang="en-US" dirty="0" err="1" smtClean="0"/>
                  <a:t>Jz</a:t>
                </a:r>
                <a:r>
                  <a:rPr lang="en-US" dirty="0" smtClean="0"/>
                  <a:t> resolution determined by competition between photon shot noise and probe-induced Raman scattering (spin flips) (former limits precision of cavity f measurements, latter leads to random</a:t>
                </a:r>
                <a:r>
                  <a:rPr lang="en-US" baseline="0" dirty="0" smtClean="0"/>
                  <a:t> walk in measured observable)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64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Special π/2</a:t>
            </a:r>
            <a:r>
              <a:rPr lang="en-US" baseline="0" dirty="0" smtClean="0"/>
              <a:t> sequence suppresses microwave pulse amplitude noise</a:t>
            </a:r>
          </a:p>
          <a:p>
            <a:r>
              <a:rPr lang="en-US" baseline="0" dirty="0" smtClean="0"/>
              <a:t>Dot dashed is expected, solid is fit, revealing microwave rotation noise (straight dot dash), bottom dashed line is resolution of π strength measurement</a:t>
            </a:r>
          </a:p>
          <a:p>
            <a:endParaRPr lang="en-US" baseline="0" dirty="0" smtClean="0"/>
          </a:p>
          <a:p>
            <a:r>
              <a:rPr lang="en-US" baseline="0" dirty="0" smtClean="0"/>
              <a:t>Balanced population difference </a:t>
            </a:r>
            <a:r>
              <a:rPr lang="en-US" baseline="0" dirty="0" smtClean="0">
                <a:sym typeface="Wingdings"/>
              </a:rPr>
              <a:t> 2% </a:t>
            </a:r>
            <a:r>
              <a:rPr lang="en-US" baseline="0" dirty="0" err="1" smtClean="0">
                <a:sym typeface="Wingdings"/>
              </a:rPr>
              <a:t>rms</a:t>
            </a:r>
            <a:r>
              <a:rPr lang="en-US" baseline="0" dirty="0" smtClean="0">
                <a:sym typeface="Wingdings"/>
              </a:rPr>
              <a:t> number fluctuation does not come in at measurable level</a:t>
            </a:r>
          </a:p>
          <a:p>
            <a:r>
              <a:rPr lang="en-US" baseline="0" dirty="0" smtClean="0">
                <a:sym typeface="Wingdings"/>
              </a:rPr>
              <a:t>200 µs shortest without significant ringing on homodyne</a:t>
            </a:r>
          </a:p>
          <a:p>
            <a:endParaRPr lang="en-US" baseline="0" dirty="0" smtClean="0">
              <a:sym typeface="Wingdings"/>
            </a:endParaRPr>
          </a:p>
          <a:p>
            <a:r>
              <a:rPr lang="en-US" baseline="0" dirty="0" smtClean="0">
                <a:sym typeface="Wingdings"/>
              </a:rPr>
              <a:t>b shows squeezed distribution, and one rotated 660µrad by a microwave pulse, much better </a:t>
            </a:r>
            <a:r>
              <a:rPr lang="en-US" baseline="0" dirty="0" err="1" smtClean="0">
                <a:sym typeface="Wingdings"/>
              </a:rPr>
              <a:t>Jz</a:t>
            </a:r>
            <a:r>
              <a:rPr lang="en-US" baseline="0" dirty="0" smtClean="0">
                <a:sym typeface="Wingdings"/>
              </a:rPr>
              <a:t> contrast compared to CSS</a:t>
            </a:r>
          </a:p>
          <a:p>
            <a:endParaRPr lang="en-US" baseline="0" dirty="0" smtClean="0">
              <a:sym typeface="Wingdings"/>
            </a:endParaRPr>
          </a:p>
          <a:p>
            <a:r>
              <a:rPr lang="en-US" baseline="0" dirty="0" smtClean="0">
                <a:sym typeface="Wingdings"/>
              </a:rPr>
              <a:t>c is 96.2% contrast Rabi oscillations of squeezed state (fluorescence imaging)</a:t>
            </a:r>
          </a:p>
          <a:p>
            <a:r>
              <a:rPr lang="en-US" baseline="0" dirty="0" smtClean="0">
                <a:sym typeface="Wingdings"/>
              </a:rPr>
              <a:t>Bottom is </a:t>
            </a:r>
            <a:r>
              <a:rPr lang="en-US" baseline="0" dirty="0" err="1" smtClean="0">
                <a:sym typeface="Wingdings"/>
              </a:rPr>
              <a:t>Jz</a:t>
            </a:r>
            <a:r>
              <a:rPr lang="en-US" baseline="0" dirty="0" smtClean="0">
                <a:sym typeface="Wingdings"/>
              </a:rPr>
              <a:t> distributions at lowest point of Rabi oscillation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27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err="1" smtClean="0"/>
              <a:t>Presqueezing</a:t>
            </a:r>
            <a:r>
              <a:rPr lang="en-US" baseline="0" dirty="0" smtClean="0"/>
              <a:t> with Jz^2 interaction (to stay within linear region of homodyne)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“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obtain the same final squeezing results in the absence of pre-squeezing if we post-select the runs with the first measurement outcome lying within the linear regime of the homodyne signal"</a:t>
            </a: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err="1" smtClean="0"/>
              <a:t>Presqueeze</a:t>
            </a:r>
            <a:r>
              <a:rPr lang="en-US" baseline="0" dirty="0" smtClean="0"/>
              <a:t> with Jz^2 interaction, put detuned probe light into cavity, different shift for atoms in upper or lower state, fixed incident power </a:t>
            </a:r>
            <a:r>
              <a:rPr lang="en-US" baseline="0" dirty="0" smtClean="0">
                <a:sym typeface="Wingdings"/>
              </a:rPr>
              <a:t> </a:t>
            </a:r>
            <a:r>
              <a:rPr lang="en-US" baseline="0" dirty="0" err="1" smtClean="0">
                <a:sym typeface="Wingdings"/>
              </a:rPr>
              <a:t>Jz</a:t>
            </a:r>
            <a:r>
              <a:rPr lang="en-US" baseline="0" dirty="0" smtClean="0">
                <a:sym typeface="Wingdings"/>
              </a:rPr>
              <a:t> dependent </a:t>
            </a:r>
            <a:r>
              <a:rPr lang="en-US" baseline="0" dirty="0" err="1" smtClean="0">
                <a:sym typeface="Wingdings"/>
              </a:rPr>
              <a:t>intracavity</a:t>
            </a:r>
            <a:r>
              <a:rPr lang="en-US" baseline="0" dirty="0" smtClean="0">
                <a:sym typeface="Wingdings"/>
              </a:rPr>
              <a:t> power, leads to “shearing” of coherent state ellipse</a:t>
            </a:r>
            <a:endParaRPr lang="en-US" baseline="0" dirty="0" smtClean="0"/>
          </a:p>
          <a:p>
            <a:r>
              <a:rPr lang="en-US" baseline="0" dirty="0" smtClean="0"/>
              <a:t>“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send 100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light at 6.25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detuning from the bare cavity resonance (generating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Jz</a:t>
            </a:r>
            <a:r>
              <a:rPr lang="en-US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^2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interaction) and simultaneously </a:t>
            </a:r>
            <a:endParaRPr lang="en-US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on a 400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microwave π/12 pulse (generating rotations around the </a:t>
            </a:r>
            <a:r>
              <a:rPr lang="en-US" sz="120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Jx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axis)”</a:t>
            </a: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Outside linear region measurement efficiency and intra-cavity probe power decrease.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These figures are to show that the </a:t>
            </a:r>
            <a:r>
              <a:rPr lang="en-US" baseline="0" dirty="0" err="1" smtClean="0"/>
              <a:t>Jz</a:t>
            </a:r>
            <a:r>
              <a:rPr lang="en-US" baseline="0" dirty="0" smtClean="0"/>
              <a:t> measurement prepares a state with reduced </a:t>
            </a:r>
            <a:r>
              <a:rPr lang="en-US" baseline="0" dirty="0" err="1" smtClean="0"/>
              <a:t>Jz</a:t>
            </a:r>
            <a:r>
              <a:rPr lang="en-US" baseline="0" dirty="0" smtClean="0"/>
              <a:t> noise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err="1" smtClean="0"/>
              <a:t>Jz</a:t>
            </a:r>
            <a:r>
              <a:rPr lang="en-US" baseline="0" dirty="0" smtClean="0"/>
              <a:t> noise on 2 equal strength back to back measurements (at optimal measurement separation)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0 atoms is noise floor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Right is mean length, J (coherence), of Bloch vector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Ramsey fringe contrasts on first measurement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Bottom figure is relative to CSS noise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States contain 3dB more squeezing than directly observed due to uncorrelated noise in second measurement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10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228 µs interrogation (largest</a:t>
            </a:r>
            <a:r>
              <a:rPr lang="en-US" baseline="0" dirty="0" smtClean="0"/>
              <a:t> Ramsey time that does not measurably degrade comparison)</a:t>
            </a:r>
            <a:r>
              <a:rPr lang="en-US" dirty="0" smtClean="0"/>
              <a:t>, 1 Hz rep rate</a:t>
            </a:r>
          </a:p>
          <a:p>
            <a:endParaRPr lang="en-US" dirty="0" smtClean="0"/>
          </a:p>
          <a:p>
            <a:r>
              <a:rPr lang="en-US" dirty="0" smtClean="0"/>
              <a:t>π/2 74µs</a:t>
            </a:r>
            <a:r>
              <a:rPr lang="en-US" baseline="0" dirty="0" smtClean="0"/>
              <a:t> for phase sensitive rotation</a:t>
            </a:r>
          </a:p>
          <a:p>
            <a:endParaRPr lang="en-US" baseline="0" dirty="0" smtClean="0"/>
          </a:p>
          <a:p>
            <a:r>
              <a:rPr lang="en-US" baseline="0" dirty="0" smtClean="0"/>
              <a:t>Reaches given precision 11.2(8) times faster than without squeezing</a:t>
            </a:r>
          </a:p>
          <a:p>
            <a:endParaRPr lang="en-US" baseline="0" dirty="0" smtClean="0"/>
          </a:p>
          <a:p>
            <a:r>
              <a:rPr lang="en-US" baseline="0" dirty="0" smtClean="0"/>
              <a:t>Second figure related to sensors that need to release atoms and perform a fluorescence measurement</a:t>
            </a:r>
          </a:p>
          <a:p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infer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able squeezing in a configuration where the second cavity measurement is replaced with fluorescence imaging in free space, we analyze the noise modulations observed in back-to-back cavity measurements (Fig. 4b) as a function of delay time between the measurements. 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Measurement separations between two successive measurements of </a:t>
            </a:r>
            <a:r>
              <a:rPr lang="en-US" baseline="0" dirty="0" err="1" smtClean="0"/>
              <a:t>Jz</a:t>
            </a:r>
            <a:endParaRPr lang="en-US" baseline="0" dirty="0" smtClean="0"/>
          </a:p>
          <a:p>
            <a:r>
              <a:rPr lang="en-US" baseline="0" dirty="0" smtClean="0"/>
              <a:t>Modulation only in noise measurement, not population difference measurement</a:t>
            </a:r>
          </a:p>
          <a:p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modulations are evidently due to residual atom–probe coupling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inhomogeneities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Residual thermal motion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 is smallest when the separation is half-integer multiples of the 2.2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transverse-oscillation period (455Hz)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r>
              <a:rPr lang="en-US" baseline="0" dirty="0" smtClean="0"/>
              <a:t>Anticipate 14.6</a:t>
            </a:r>
          </a:p>
          <a:p>
            <a:endParaRPr lang="en-US" baseline="0" dirty="0" smtClean="0"/>
          </a:p>
          <a:p>
            <a:r>
              <a:rPr lang="en-US" baseline="0" dirty="0" smtClean="0"/>
              <a:t>Single shot phase resolution better than best cold atom sensor despite lower atom numbers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58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Choose Z so </a:t>
            </a:r>
            <a:r>
              <a:rPr lang="en-US" dirty="0" err="1" smtClean="0"/>
              <a:t>var</a:t>
            </a:r>
            <a:r>
              <a:rPr lang="en-US" dirty="0" smtClean="0"/>
              <a:t>(</a:t>
            </a:r>
            <a:r>
              <a:rPr lang="en-US" dirty="0" err="1" smtClean="0"/>
              <a:t>Jz</a:t>
            </a:r>
            <a:r>
              <a:rPr lang="en-US" dirty="0" smtClean="0"/>
              <a:t>)/max(</a:t>
            </a:r>
            <a:r>
              <a:rPr lang="en-US" dirty="0" err="1" smtClean="0"/>
              <a:t>Jz</a:t>
            </a:r>
            <a:r>
              <a:rPr lang="en-US" dirty="0" smtClean="0"/>
              <a:t>) = </a:t>
            </a:r>
            <a:r>
              <a:rPr lang="en-US" dirty="0" err="1" smtClean="0"/>
              <a:t>var</a:t>
            </a:r>
            <a:r>
              <a:rPr lang="en-US" dirty="0" smtClean="0"/>
              <a:t>(</a:t>
            </a:r>
            <a:r>
              <a:rPr lang="en-US" dirty="0" err="1" smtClean="0"/>
              <a:t>Jz</a:t>
            </a:r>
            <a:r>
              <a:rPr lang="en-US" dirty="0" smtClean="0"/>
              <a:t>’)/max(</a:t>
            </a:r>
            <a:r>
              <a:rPr lang="en-US" dirty="0" err="1" smtClean="0"/>
              <a:t>Jz</a:t>
            </a:r>
            <a:r>
              <a:rPr lang="en-US" dirty="0" smtClean="0"/>
              <a:t>’)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30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Best </a:t>
            </a:r>
            <a:r>
              <a:rPr lang="en-US" dirty="0" smtClean="0"/>
              <a:t>metrological improvement</a:t>
            </a:r>
            <a:r>
              <a:rPr lang="en-US" baseline="0" dirty="0" smtClean="0"/>
              <a:t> was 5*10^5 atoms, 330(15) entangled atoms</a:t>
            </a:r>
          </a:p>
          <a:p>
            <a:endParaRPr lang="en-US" baseline="0" dirty="0" smtClean="0"/>
          </a:p>
          <a:p>
            <a:r>
              <a:rPr lang="en-US" baseline="0" dirty="0" smtClean="0"/>
              <a:t>Most entangled 680(35) at π/2 measurement strength</a:t>
            </a:r>
          </a:p>
          <a:p>
            <a:endParaRPr lang="en-US" baseline="0" dirty="0" smtClean="0"/>
          </a:p>
          <a:p>
            <a:r>
              <a:rPr lang="en-US" baseline="0" dirty="0" smtClean="0"/>
              <a:t>Without inhomogeneity 1605(30) is max</a:t>
            </a:r>
          </a:p>
          <a:p>
            <a:endParaRPr lang="en-US" baseline="0" dirty="0" smtClean="0"/>
          </a:p>
          <a:p>
            <a:r>
              <a:rPr lang="en-US" baseline="0" dirty="0" smtClean="0"/>
              <a:t>3</a:t>
            </a:r>
            <a:r>
              <a:rPr lang="en-US" baseline="30000" dirty="0" smtClean="0"/>
              <a:t>rd</a:t>
            </a:r>
            <a:r>
              <a:rPr lang="en-US" baseline="0" dirty="0" smtClean="0"/>
              <a:t> point in each set is max metrological improvement (most entanglement not necessarily greatest metrological improvement)</a:t>
            </a:r>
          </a:p>
          <a:p>
            <a:endParaRPr lang="en-US" baseline="0" dirty="0" smtClean="0"/>
          </a:p>
          <a:p>
            <a:r>
              <a:rPr lang="en-US" baseline="0" dirty="0" smtClean="0"/>
              <a:t>To get the curves is a constrained optimization problem, given number of particles N and number of entangled particles k, can calculate “surface” of &lt;Ji^2&gt;’s where k is minimum number of entangled </a:t>
            </a:r>
            <a:r>
              <a:rPr lang="en-US" baseline="0" dirty="0" smtClean="0"/>
              <a:t>particles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These are for 5*10^5 atoms, left to right is decreasing probe power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92366-1CF9-664B-85B4-0F949CCDD2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3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7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75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4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8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2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4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2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8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9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1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7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E8364-BF02-7C43-8534-5B2247925C90}" type="datetimeFigureOut">
              <a:rPr lang="en-US" smtClean="0"/>
              <a:t>10/13/16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6906E-853E-9B41-BB3F-7211420F8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4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" r="43137"/>
          <a:stretch/>
        </p:blipFill>
        <p:spPr>
          <a:xfrm>
            <a:off x="6515715" y="1865148"/>
            <a:ext cx="4408099" cy="48028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1610"/>
            <a:ext cx="10058400" cy="16018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"/>
          <a:stretch/>
        </p:blipFill>
        <p:spPr>
          <a:xfrm>
            <a:off x="1066800" y="1750845"/>
            <a:ext cx="4441986" cy="48811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V="1">
            <a:off x="6515715" y="1995777"/>
            <a:ext cx="467471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flipV="1">
            <a:off x="10574857" y="2069253"/>
            <a:ext cx="33262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36114" y="6425460"/>
            <a:ext cx="1355886" cy="446617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Presenter: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Daniel </a:t>
            </a:r>
            <a:r>
              <a:rPr lang="en-US" dirty="0" err="1" smtClean="0"/>
              <a:t>Schussheim</a:t>
            </a:r>
            <a:endParaRPr lang="en-US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5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Squeezed states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603945"/>
            <a:ext cx="10515600" cy="558346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dirty="0" smtClean="0"/>
              <a:t>N</a:t>
            </a:r>
            <a:r>
              <a:rPr lang="en-US" sz="2400" dirty="0" smtClean="0"/>
              <a:t> two-level </a:t>
            </a:r>
            <a:r>
              <a:rPr lang="en-US" sz="2400" dirty="0"/>
              <a:t>a</a:t>
            </a:r>
            <a:r>
              <a:rPr lang="en-US" sz="2400" dirty="0" smtClean="0"/>
              <a:t>toms </a:t>
            </a:r>
            <a:r>
              <a:rPr lang="en-US" sz="2400" dirty="0" smtClean="0">
                <a:sym typeface="Wingdings"/>
              </a:rPr>
              <a:t> </a:t>
            </a:r>
            <a:r>
              <a:rPr lang="en-US" sz="2400" dirty="0" smtClean="0"/>
              <a:t>spin J system, J=N/2 (each atom is spin-1/2)</a:t>
            </a:r>
            <a:endParaRPr lang="en-US" sz="2400"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68139" y="2228419"/>
            <a:ext cx="10515600" cy="558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dirty="0" smtClean="0"/>
              <a:t>Conjugate observables </a:t>
            </a:r>
            <a:r>
              <a:rPr lang="en-US" sz="2400" dirty="0" err="1" smtClean="0"/>
              <a:t>J</a:t>
            </a:r>
            <a:r>
              <a:rPr lang="en-US" sz="2400" baseline="-25000" dirty="0" err="1" smtClean="0"/>
              <a:t>x,y,z</a:t>
            </a:r>
            <a:r>
              <a:rPr lang="en-US" sz="2400" dirty="0" smtClean="0"/>
              <a:t> obey 𝚫</a:t>
            </a:r>
            <a:r>
              <a:rPr lang="en-US" sz="2400" dirty="0" err="1" smtClean="0"/>
              <a:t>J</a:t>
            </a:r>
            <a:r>
              <a:rPr lang="en-US" sz="2400" baseline="-25000" dirty="0" err="1"/>
              <a:t>z</a:t>
            </a:r>
            <a:r>
              <a:rPr lang="en-US" sz="2400" dirty="0" smtClean="0"/>
              <a:t> 𝚫</a:t>
            </a:r>
            <a:r>
              <a:rPr lang="en-US" sz="2400" dirty="0" err="1" smtClean="0"/>
              <a:t>J</a:t>
            </a:r>
            <a:r>
              <a:rPr lang="en-US" sz="2400" baseline="-25000" dirty="0" err="1"/>
              <a:t>y</a:t>
            </a:r>
            <a:r>
              <a:rPr lang="en-US" sz="2400" dirty="0" smtClean="0"/>
              <a:t> ≥|</a:t>
            </a:r>
            <a:r>
              <a:rPr lang="en-US" sz="2400" dirty="0" err="1" smtClean="0"/>
              <a:t>J</a:t>
            </a:r>
            <a:r>
              <a:rPr lang="en-US" sz="2400" baseline="-25000" dirty="0" err="1"/>
              <a:t>x</a:t>
            </a:r>
            <a:r>
              <a:rPr lang="en-US" sz="2400" dirty="0" smtClean="0"/>
              <a:t>/2|</a:t>
            </a: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7700" y="2852893"/>
            <a:ext cx="10515600" cy="558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smtClean="0"/>
              <a:t>Non-entangled coherent spin state with 〈</a:t>
            </a:r>
            <a:r>
              <a:rPr lang="en-US" sz="2400" dirty="0" err="1" smtClean="0"/>
              <a:t>J</a:t>
            </a:r>
            <a:r>
              <a:rPr lang="en-US" sz="2400" baseline="-25000" dirty="0" err="1" smtClean="0"/>
              <a:t>z</a:t>
            </a:r>
            <a:r>
              <a:rPr lang="en-US" sz="2400" dirty="0" smtClean="0"/>
              <a:t>〉=0=〈</a:t>
            </a:r>
            <a:r>
              <a:rPr lang="en-US" sz="2400" dirty="0" err="1" smtClean="0"/>
              <a:t>J</a:t>
            </a:r>
            <a:r>
              <a:rPr lang="en-US" sz="2400" baseline="-25000" dirty="0" err="1"/>
              <a:t>y</a:t>
            </a:r>
            <a:r>
              <a:rPr lang="en-US" sz="2400" dirty="0" smtClean="0"/>
              <a:t>〉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6313" r="81137" b="60226"/>
          <a:stretch/>
        </p:blipFill>
        <p:spPr>
          <a:xfrm>
            <a:off x="7335436" y="2712359"/>
            <a:ext cx="1897117" cy="1655379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47700" y="5013822"/>
            <a:ext cx="10706100" cy="558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smtClean="0"/>
              <a:t>Squeezing redistributes uncertainty, quieter than coherent state on one component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1368139" y="3477367"/>
                <a:ext cx="3913414" cy="8458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 smtClean="0"/>
                  <a:t>So 𝚫</a:t>
                </a:r>
                <a:r>
                  <a:rPr lang="en-US" sz="2400" dirty="0" err="1" smtClean="0"/>
                  <a:t>J</a:t>
                </a:r>
                <a:r>
                  <a:rPr lang="en-US" sz="2400" baseline="-25000" dirty="0" err="1" smtClean="0"/>
                  <a:t>z</a:t>
                </a:r>
                <a:r>
                  <a:rPr lang="en-US" sz="2400" dirty="0" smtClean="0"/>
                  <a:t>= 𝚫</a:t>
                </a:r>
                <a:r>
                  <a:rPr lang="en-US" sz="2400" dirty="0" err="1" smtClean="0"/>
                  <a:t>J</a:t>
                </a:r>
                <a:r>
                  <a:rPr lang="en-US" sz="2400" baseline="-25000" dirty="0" err="1" smtClean="0"/>
                  <a:t>y</a:t>
                </a:r>
                <a:r>
                  <a:rPr lang="en-US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𝑁</m:t>
                            </m:r>
                          </m:e>
                        </m:rad>
                      </m:num>
                      <m:den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139" y="3477367"/>
                <a:ext cx="3913414" cy="845853"/>
              </a:xfrm>
              <a:prstGeom prst="rect">
                <a:avLst/>
              </a:prstGeom>
              <a:blipFill rotWithShape="0">
                <a:blip r:embed="rId4"/>
                <a:stretch>
                  <a:fillRect l="-2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/>
              <p:cNvSpPr txBox="1">
                <a:spLocks/>
              </p:cNvSpPr>
              <p:nvPr/>
            </p:nvSpPr>
            <p:spPr>
              <a:xfrm>
                <a:off x="1368139" y="5377033"/>
                <a:ext cx="10515600" cy="1020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 smtClean="0"/>
                  <a:t>Degree of squeezing quantified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𝜒</m:t>
                        </m:r>
                        <m:r>
                          <m:rPr>
                            <m:nor/>
                          </m:rPr>
                          <a:rPr lang="en-US" sz="2400" dirty="0" smtClean="0"/>
                          <m:t> 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mr-IN" sz="24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mr-IN" sz="240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mr-IN" sz="240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𝑁</m:t>
                                    </m:r>
                                  </m:e>
                                </m:rad>
                                <m:r>
                                  <a:rPr lang="en-US" sz="24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/2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𝑧</m:t>
                                    </m:r>
                                  </m:sub>
                                </m:sSub>
                              </m:den>
                            </m:f>
                            <m:f>
                              <m:fPr>
                                <m:ctrlPr>
                                  <a:rPr lang="mr-IN" sz="240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hr-HR" sz="240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sz="24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𝑁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/2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139" y="5377033"/>
                <a:ext cx="10515600" cy="1020320"/>
              </a:xfrm>
              <a:prstGeom prst="rect">
                <a:avLst/>
              </a:prstGeom>
              <a:blipFill rotWithShape="0">
                <a:blip r:embed="rId5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32" t="6506" r="45749" b="67446"/>
          <a:stretch/>
        </p:blipFill>
        <p:spPr>
          <a:xfrm>
            <a:off x="9352807" y="5471923"/>
            <a:ext cx="1510642" cy="1288641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647700" y="4389348"/>
            <a:ext cx="10706100" cy="558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smtClean="0"/>
              <a:t>Entangled particles can reach Heisenberg uncertainty limit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737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Previous 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473" y="1925136"/>
            <a:ext cx="10515600" cy="477534"/>
          </a:xfrm>
        </p:spPr>
        <p:txBody>
          <a:bodyPr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Squeezing demonstrated in: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400" dirty="0" smtClean="0"/>
              <a:t>		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10992" y="2819888"/>
            <a:ext cx="7091210" cy="660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000" smtClean="0"/>
              <a:t>Improved micro-particle </a:t>
            </a:r>
            <a:r>
              <a:rPr lang="en-US" sz="2000" dirty="0" smtClean="0"/>
              <a:t>tracking in cells</a:t>
            </a:r>
            <a:endParaRPr lang="en-US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26472" y="3603756"/>
            <a:ext cx="10827327" cy="628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dirty="0" smtClean="0"/>
              <a:t>Cavity based experiment with </a:t>
            </a:r>
            <a:r>
              <a:rPr lang="en-US" sz="2400" baseline="30000" dirty="0" smtClean="0"/>
              <a:t>87</a:t>
            </a:r>
            <a:r>
              <a:rPr lang="en-US" sz="2400" dirty="0" smtClean="0"/>
              <a:t>Rb gave 10 dB metrological improvement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10992" y="1131834"/>
            <a:ext cx="26845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Optical </a:t>
            </a:r>
            <a:r>
              <a:rPr lang="en-US" sz="2000" dirty="0"/>
              <a:t>interferometers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10992" y="1694519"/>
            <a:ext cx="39363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Superconducting </a:t>
            </a:r>
            <a:r>
              <a:rPr lang="en-US" sz="2000" dirty="0"/>
              <a:t>microwave circuits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10992" y="2257204"/>
            <a:ext cx="5515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/>
              <a:t>Enhanced </a:t>
            </a:r>
            <a:r>
              <a:rPr lang="en-US" sz="2000"/>
              <a:t>atomic clock and magnetometer stability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2387" y="4249214"/>
            <a:ext cx="95272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Utilized cycling transitions on magnetically sensitive </a:t>
            </a:r>
            <a:r>
              <a:rPr lang="en-US" sz="2000" dirty="0" smtClean="0"/>
              <a:t>states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1325690" y="4788683"/>
            <a:ext cx="70523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Non-uniform coupling to cavity </a:t>
            </a:r>
            <a:r>
              <a:rPr lang="en-US" sz="2000" dirty="0">
                <a:sym typeface="Wingdings"/>
              </a:rPr>
              <a:t> </a:t>
            </a:r>
            <a:r>
              <a:rPr lang="en-US" sz="2000" dirty="0" smtClean="0">
                <a:sym typeface="Wingdings"/>
              </a:rPr>
              <a:t>not </a:t>
            </a:r>
            <a:r>
              <a:rPr lang="en-US" sz="2000" dirty="0">
                <a:sym typeface="Wingdings"/>
              </a:rPr>
              <a:t>good for </a:t>
            </a:r>
            <a:r>
              <a:rPr lang="en-US" sz="2000" dirty="0" smtClean="0">
                <a:sym typeface="Wingdings"/>
              </a:rPr>
              <a:t>precision sensors</a:t>
            </a:r>
            <a:endParaRPr lang="en-US" sz="20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19916" y="5433244"/>
            <a:ext cx="10827327" cy="941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dirty="0" smtClean="0"/>
              <a:t>Noise reduction using entangled particles, until now, not at competitive performance levels compared to non-entangled systems</a:t>
            </a:r>
          </a:p>
        </p:txBody>
      </p:sp>
    </p:spTree>
    <p:extLst>
      <p:ext uri="{BB962C8B-B14F-4D97-AF65-F5344CB8AC3E}">
        <p14:creationId xmlns:p14="http://schemas.microsoft.com/office/powerpoint/2010/main" val="147761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55" y="473528"/>
            <a:ext cx="6536390" cy="5994070"/>
          </a:xfr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5705023" y="1451921"/>
            <a:ext cx="4712605" cy="477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dirty="0" smtClean="0"/>
              <a:t>		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34129" y="4047634"/>
            <a:ext cx="5307926" cy="9667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sz="2400" dirty="0" smtClean="0"/>
              <a:t>Atoms in 1D 1560 nm lattice (520 µK - depth), 780 nm probe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		</a:t>
            </a: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6534129" y="5147538"/>
            <a:ext cx="506299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000" dirty="0" smtClean="0"/>
              <a:t>25 </a:t>
            </a:r>
            <a:r>
              <a:rPr lang="en-US" sz="2000" dirty="0"/>
              <a:t>µK atoms </a:t>
            </a:r>
            <a:r>
              <a:rPr lang="en-US" sz="2000" dirty="0" smtClean="0"/>
              <a:t>(N = 7*10^5</a:t>
            </a:r>
            <a:r>
              <a:rPr lang="en-US" sz="2000" dirty="0"/>
              <a:t>) in lower clock </a:t>
            </a:r>
            <a:r>
              <a:rPr lang="en-US" sz="2000" dirty="0" smtClean="0"/>
              <a:t>state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000" dirty="0"/>
              <a:t>10.7 cm near-confocal </a:t>
            </a:r>
            <a:r>
              <a:rPr lang="en-US" sz="2000" dirty="0" smtClean="0"/>
              <a:t>cavity</a:t>
            </a:r>
            <a:endParaRPr lang="en-US" sz="2000" dirty="0"/>
          </a:p>
          <a:p>
            <a:pPr marL="457200" indent="-457200">
              <a:buFont typeface="Arial" charset="0"/>
              <a:buChar char="•"/>
            </a:pPr>
            <a:r>
              <a:rPr lang="en-US" sz="2000" dirty="0" err="1"/>
              <a:t>ℱ</a:t>
            </a:r>
            <a:r>
              <a:rPr lang="en-US" sz="2000" dirty="0"/>
              <a:t> = 1.75*10^5 (𝛾 = 8 kHz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534129" y="785789"/>
            <a:ext cx="51121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Squeezing through collective population difference measurement (</a:t>
            </a:r>
            <a:r>
              <a:rPr lang="en-US" sz="2400" dirty="0" err="1" smtClean="0"/>
              <a:t>J</a:t>
            </a:r>
            <a:r>
              <a:rPr lang="en-US" sz="2400" baseline="-25000" dirty="0" err="1" smtClean="0"/>
              <a:t>z</a:t>
            </a:r>
            <a:r>
              <a:rPr lang="en-US" sz="2400" dirty="0" smtClean="0"/>
              <a:t> measurement)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6534129" y="2119292"/>
            <a:ext cx="53079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Homodyne measures cavity frequency </a:t>
            </a:r>
            <a:r>
              <a:rPr lang="en-US" sz="2400" dirty="0"/>
              <a:t>shift ∝ </a:t>
            </a:r>
            <a:r>
              <a:rPr lang="en-US" sz="2400" i="1" dirty="0" smtClean="0"/>
              <a:t>n</a:t>
            </a:r>
            <a:r>
              <a:rPr lang="en-US" sz="2400" dirty="0" smtClean="0"/>
              <a:t>∝ </a:t>
            </a:r>
            <a:r>
              <a:rPr lang="en-US" sz="2400" i="1" dirty="0" err="1" smtClean="0"/>
              <a:t>J</a:t>
            </a:r>
            <a:r>
              <a:rPr lang="en-US" sz="2400" i="1" baseline="-25000" dirty="0" err="1" smtClean="0"/>
              <a:t>z</a:t>
            </a:r>
            <a:r>
              <a:rPr lang="en-US" sz="2400" i="1" dirty="0"/>
              <a:t> 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534129" y="3083463"/>
            <a:ext cx="53079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Stable to cavity shifts to 3 spin flips (5.5Hz/flip)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615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41" y="164395"/>
            <a:ext cx="11152415" cy="5485291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38841" y="5600699"/>
            <a:ext cx="3914506" cy="15878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Bring states to equator with π/2 (π/2</a:t>
            </a:r>
            <a:r>
              <a:rPr lang="en-US" sz="2400" baseline="-25000" dirty="0" smtClean="0"/>
              <a:t>0 </a:t>
            </a:r>
            <a:r>
              <a:rPr lang="mr-IN" sz="2400" dirty="0" smtClean="0"/>
              <a:t>–</a:t>
            </a:r>
            <a:r>
              <a:rPr lang="en-US" sz="2400" dirty="0" smtClean="0"/>
              <a:t> π</a:t>
            </a:r>
            <a:r>
              <a:rPr lang="en-US" sz="2400" baseline="-25000" dirty="0" smtClean="0"/>
              <a:t>2π/3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049879" y="5649686"/>
            <a:ext cx="3223264" cy="9797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Squeezed states, higher </a:t>
            </a:r>
            <a:r>
              <a:rPr lang="en-US" sz="2400" dirty="0" err="1" smtClean="0"/>
              <a:t>J</a:t>
            </a:r>
            <a:r>
              <a:rPr lang="en-US" sz="2400" baseline="-25000" dirty="0" err="1" smtClean="0"/>
              <a:t>z</a:t>
            </a:r>
            <a:r>
              <a:rPr lang="en-US" sz="2400" dirty="0" smtClean="0"/>
              <a:t> resolution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8652557" y="5649686"/>
            <a:ext cx="30386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 err="1"/>
              <a:t>J</a:t>
            </a:r>
            <a:r>
              <a:rPr lang="en-US" sz="2400" baseline="-25000" dirty="0" err="1"/>
              <a:t>z</a:t>
            </a:r>
            <a:r>
              <a:rPr lang="en-US" sz="2400" dirty="0"/>
              <a:t> distributions at lowest point in </a:t>
            </a:r>
            <a:r>
              <a:rPr lang="en-US" sz="2400" dirty="0" err="1" smtClean="0"/>
              <a:t>osc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218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" y="0"/>
            <a:ext cx="6467707" cy="685800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777949" y="502178"/>
            <a:ext cx="5060266" cy="1947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Measurement strength: “amount of differential phase shift accumulated on clock states due to probe induced AC Stark shifts”</a:t>
            </a:r>
            <a:endParaRPr lang="en-US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826934" y="2926895"/>
            <a:ext cx="4880651" cy="1875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States deterministically pre-squeezed by 7 dB, 99% coherence (to remain within linear region of homodyne)</a:t>
            </a:r>
            <a:endParaRPr lang="en-US" sz="24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826933" y="5279571"/>
            <a:ext cx="4880651" cy="1023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Largest noise reduction 20.1(3) dB at 5*10</a:t>
            </a:r>
            <a:r>
              <a:rPr lang="en-US" sz="2400" baseline="30000" dirty="0" smtClean="0"/>
              <a:t>5</a:t>
            </a:r>
            <a:r>
              <a:rPr lang="en-US" sz="2400" dirty="0" smtClean="0"/>
              <a:t> atoms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07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479" y="1340753"/>
            <a:ext cx="8839200" cy="521245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 smtClean="0"/>
              <a:t>Application: atomic clock</a:t>
            </a:r>
            <a:endParaRPr lang="en-US" b="1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17752" y="1584201"/>
            <a:ext cx="2924176" cy="9692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10.5(3) dB  metrological gain</a:t>
            </a:r>
            <a:endParaRPr lang="en-US" sz="24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17752" y="2766094"/>
            <a:ext cx="2924176" cy="1604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18.5(3) dB improvement on small microwave rotations</a:t>
            </a:r>
            <a:endParaRPr lang="en-US" sz="2400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517752" y="4529512"/>
            <a:ext cx="2924176" cy="816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Single shot </a:t>
            </a:r>
            <a:r>
              <a:rPr lang="en-US" sz="2400" smtClean="0"/>
              <a:t>phase resolution 147 µrad</a:t>
            </a:r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17752" y="5540053"/>
            <a:ext cx="3604082" cy="816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b, noise in back to </a:t>
            </a:r>
            <a:r>
              <a:rPr lang="en-US" sz="2400" smtClean="0"/>
              <a:t>back measurements, due to thermal motion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236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Coupling inhomogeneity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27500" y="1501481"/>
                <a:ext cx="5966505" cy="630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dirty="0" smtClean="0"/>
                  <a:t>Goal to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𝐽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s-IS" sz="240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charset="0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𝑗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𝑧</m:t>
                        </m:r>
                      </m:sub>
                      <m:sup>
                        <m:d>
                          <m:dPr>
                            <m:ctrlPr>
                              <a:rPr lang="en-US" sz="2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2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𝑧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00" y="1501481"/>
                <a:ext cx="5966505" cy="630685"/>
              </a:xfrm>
              <a:prstGeom prst="rect">
                <a:avLst/>
              </a:prstGeom>
              <a:blipFill rotWithShape="0">
                <a:blip r:embed="rId3"/>
                <a:stretch>
                  <a:fillRect l="-1636" b="-6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27500" y="2404185"/>
                <a:ext cx="10280443" cy="550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dirty="0" smtClean="0"/>
                  <a:t>Because of atom-cavity inhomogeneity, actually measure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𝐽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𝑧</m:t>
                        </m:r>
                      </m:sub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 smtClean="0"/>
                  <a:t>, weighted sum of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r>
                          <a:rPr lang="en-US" sz="2400" i="1">
                            <a:latin typeface="Cambria Math" charset="0"/>
                          </a:rPr>
                          <m:t>𝑗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𝑧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00" y="2404185"/>
                <a:ext cx="10280443" cy="550856"/>
              </a:xfrm>
              <a:prstGeom prst="rect">
                <a:avLst/>
              </a:prstGeom>
              <a:blipFill rotWithShape="0">
                <a:blip r:embed="rId4"/>
                <a:stretch>
                  <a:fillRect l="-949" b="-20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27500" y="3227060"/>
                <a:ext cx="10228634" cy="5547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dirty="0" smtClean="0"/>
                  <a:t>If all atoms coupled identically, total frequency shift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s-IS" sz="2400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charset="0"/>
                          </a:rPr>
                          <m:t>𝑛</m:t>
                        </m:r>
                        <m:r>
                          <a:rPr lang="en-US" sz="2400" i="1">
                            <a:latin typeface="Cambria Math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𝑧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00" y="3227060"/>
                <a:ext cx="10228634" cy="554704"/>
              </a:xfrm>
              <a:prstGeom prst="rect">
                <a:avLst/>
              </a:prstGeom>
              <a:blipFill rotWithShape="0">
                <a:blip r:embed="rId5"/>
                <a:stretch>
                  <a:fillRect l="-954" b="-2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27500" y="4053783"/>
                <a:ext cx="66654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dirty="0" smtClean="0"/>
                  <a:t>Inhomogeneity gives slight shift,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 smtClean="0"/>
                  <a:t>, to each atom, </a:t>
                </a:r>
                <a:r>
                  <a:rPr lang="en-US" sz="2400" i="1" dirty="0" smtClean="0"/>
                  <a:t>n</a:t>
                </a:r>
                <a:endParaRPr lang="en-US" sz="24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00" y="4053783"/>
                <a:ext cx="6665414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1464" t="-10526" r="-457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27500" y="4787467"/>
                <a:ext cx="10626563" cy="6484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dirty="0" smtClean="0"/>
                  <a:t>Measured shift is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2400" i="1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s-IS" sz="2400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charset="0"/>
                          </a:rPr>
                          <m:t>𝑛</m:t>
                        </m:r>
                        <m:r>
                          <a:rPr lang="en-US" sz="2400" i="1">
                            <a:latin typeface="Cambria Math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sSubSup>
                          <m:sSubSup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𝑧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400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r>
                          <a:rPr lang="en-US" sz="2400" b="0" i="1" smtClean="0"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charset="0"/>
                          </a:rPr>
                          <m:t>𝑍</m:t>
                        </m:r>
                        <m:d>
                          <m:dPr>
                            <m:ctrlPr>
                              <a:rPr lang="mr-IN" sz="24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mr-IN" sz="2400" b="0" i="1" smtClean="0"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𝑍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is-IS" sz="2400" b="0" i="1" smtClean="0">
                                    <a:latin typeface="Cambria Math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400" b="0" i="1" smtClean="0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=1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charset="0"/>
                                  </a:rPr>
                                  <m:t>)</m:t>
                                </m:r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𝑗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≝</m:t>
                        </m:r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𝑒𝑓𝑓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charset="0"/>
                              </a:rPr>
                              <m:t>′</m:t>
                            </m:r>
                          </m:sup>
                        </m:sSubSup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00" y="4787467"/>
                <a:ext cx="10626563" cy="648447"/>
              </a:xfrm>
              <a:prstGeom prst="rect">
                <a:avLst/>
              </a:prstGeom>
              <a:blipFill rotWithShape="0">
                <a:blip r:embed="rId7"/>
                <a:stretch>
                  <a:fillRect l="-918" b="-6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527500" y="5707934"/>
                <a:ext cx="10165347" cy="491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dirty="0" smtClean="0"/>
                  <a:t>Leads to effective parameters: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𝑒𝑓𝑓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=.995</m:t>
                    </m:r>
                    <m:sSub>
                      <m:sSub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 smtClean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𝑒𝑓𝑓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=0.83</m:t>
                    </m:r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𝑚𝑎𝑥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=5.5 </m:t>
                    </m:r>
                    <m:r>
                      <a:rPr lang="en-US" sz="2400" b="0" i="1" smtClean="0">
                        <a:latin typeface="Cambria Math" charset="0"/>
                      </a:rPr>
                      <m:t>𝐻𝑧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00" y="5707934"/>
                <a:ext cx="10165347" cy="491288"/>
              </a:xfrm>
              <a:prstGeom prst="rect">
                <a:avLst/>
              </a:prstGeom>
              <a:blipFill rotWithShape="0">
                <a:blip r:embed="rId8"/>
                <a:stretch>
                  <a:fillRect l="-960" t="-95062" b="-117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36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680357" y="3550445"/>
            <a:ext cx="4664529" cy="919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Being below curve on right = at least that many entangled particles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9" t="3095" r="13058"/>
          <a:stretch/>
        </p:blipFill>
        <p:spPr>
          <a:xfrm>
            <a:off x="5187043" y="65316"/>
            <a:ext cx="7004957" cy="66457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680357" y="1571626"/>
                <a:ext cx="4664529" cy="12532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Font typeface="Arial"/>
                  <a:buNone/>
                  <a:defRPr/>
                </a:pPr>
                <a:r>
                  <a:rPr lang="en-US" sz="2400" dirty="0" smtClean="0"/>
                  <a:t>From measurements of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400" dirty="0" smtClean="0"/>
                  <a:t>, can determine the minimum number of entangled particles </a:t>
                </a:r>
                <a:endParaRPr lang="en-US" sz="2400" dirty="0"/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57" y="1571626"/>
                <a:ext cx="4664529" cy="1253218"/>
              </a:xfrm>
              <a:prstGeom prst="rect">
                <a:avLst/>
              </a:prstGeom>
              <a:blipFill rotWithShape="0">
                <a:blip r:embed="rId4"/>
                <a:stretch>
                  <a:fillRect l="-2092" t="-1463" r="-1830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/>
          <p:cNvSpPr txBox="1">
            <a:spLocks/>
          </p:cNvSpPr>
          <p:nvPr/>
        </p:nvSpPr>
        <p:spPr>
          <a:xfrm>
            <a:off x="680357" y="5195208"/>
            <a:ext cx="4664529" cy="928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 sz="2400" dirty="0" smtClean="0"/>
              <a:t>Blue includes small inhomogeneous atom-cavity coupling</a:t>
            </a:r>
            <a:endParaRPr lang="en-US" sz="2400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 smtClean="0"/>
              <a:t>Entanglement depth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527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Conclusions</a:t>
            </a:r>
            <a:endParaRPr lang="en-US" b="1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825623"/>
            <a:ext cx="105156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dirty="0" smtClean="0"/>
              <a:t>Achieved 20.1(3) dB squeezing (12 dB maximum previously)</a:t>
            </a: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839967"/>
            <a:ext cx="105156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smtClean="0"/>
              <a:t>Entangled at least 680(35) atoms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817986"/>
            <a:ext cx="105156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dirty="0" smtClean="0"/>
              <a:t>Used squeezed states to improve phase sensitivity of atomic clock</a:t>
            </a:r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5323775"/>
            <a:ext cx="105156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dirty="0" smtClean="0"/>
              <a:t>Squeezed states prepared here can be released from lattice for precision sensors (anticipate 14.6 dB retrievable squeezing)</a:t>
            </a:r>
            <a:endParaRPr lang="en-US" sz="24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4340886"/>
            <a:ext cx="10515600" cy="98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2400" dirty="0" smtClean="0"/>
              <a:t>Better single shot readout (147 µrad) than other </a:t>
            </a:r>
            <a:r>
              <a:rPr lang="en-US" sz="2400" dirty="0" err="1" smtClean="0"/>
              <a:t>ultracold</a:t>
            </a:r>
            <a:r>
              <a:rPr lang="en-US" sz="2400" dirty="0" smtClean="0"/>
              <a:t> atom sensors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963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3370</TotalTime>
  <Words>1342</Words>
  <Application>Microsoft Macintosh PowerPoint</Application>
  <PresentationFormat>Widescreen</PresentationFormat>
  <Paragraphs>169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Calibri Light</vt:lpstr>
      <vt:lpstr>Cambria Math</vt:lpstr>
      <vt:lpstr>Mangal</vt:lpstr>
      <vt:lpstr>Wingdings</vt:lpstr>
      <vt:lpstr>Arial</vt:lpstr>
      <vt:lpstr>Office Theme</vt:lpstr>
      <vt:lpstr>PowerPoint Presentation</vt:lpstr>
      <vt:lpstr>Squeezed states</vt:lpstr>
      <vt:lpstr>Previous work</vt:lpstr>
      <vt:lpstr>PowerPoint Presentation</vt:lpstr>
      <vt:lpstr>PowerPoint Presentation</vt:lpstr>
      <vt:lpstr>PowerPoint Presentation</vt:lpstr>
      <vt:lpstr>Application: atomic clock</vt:lpstr>
      <vt:lpstr>Coupling inhomogeneity</vt:lpstr>
      <vt:lpstr>Entanglement depth</vt:lpstr>
      <vt:lpstr>Conclusions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Schussheim</dc:creator>
  <cp:lastModifiedBy>Daniel Schussheim</cp:lastModifiedBy>
  <cp:revision>153</cp:revision>
  <dcterms:created xsi:type="dcterms:W3CDTF">2016-10-10T00:06:51Z</dcterms:created>
  <dcterms:modified xsi:type="dcterms:W3CDTF">2016-10-14T14:59:00Z</dcterms:modified>
</cp:coreProperties>
</file>